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7" r:id="rId10"/>
    <p:sldId id="268" r:id="rId18"/>
    <p:sldId id="269" r:id="rId19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5.xml"/><Relationship Id="rId19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media" Target="../media/media1.mp4"/><Relationship Id="rId6" Type="http://schemas.openxmlformats.org/officeDocument/2006/relationships/video" Target="../media/media1.mp4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microsoft.com/office/2007/relationships/media" Target="../media/media2.mp4"/><Relationship Id="rId6" Type="http://schemas.openxmlformats.org/officeDocument/2006/relationships/video" Target="../media/media2.mp4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microsoft.com/office/2007/relationships/media" Target="../media/media3.mp4"/><Relationship Id="rId6" Type="http://schemas.openxmlformats.org/officeDocument/2006/relationships/video" Target="../media/media3.mp4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ynbit.in/services" TargetMode="External"/><Relationship Id="rId3" Type="http://schemas.openxmlformats.org/officeDocument/2006/relationships/hyperlink" Target="https://www.cynbit.in/contac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4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urning Enquiries into Convers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Oval 23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One audience. One problem. One clear offer.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3520440" cy="333756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50292" cy="333756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2" y="2029968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43200"/>
            <a:ext cx="30998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Proposed segment: founders and sales / operations managers at small Indian B2B service businesses.</a:t>
            </a:r>
          </a:p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They handle enquiries across messages and spreadsheets.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828800"/>
            <a:ext cx="3520440" cy="333756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50292" cy="333756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44568" y="2029968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43200"/>
            <a:ext cx="30998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Manual lead entry and inconsistent follow-up can make enquiries difficult to manage.</a:t>
            </a:r>
          </a:p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Validate this pain point in early discovery calls.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1828800"/>
            <a:ext cx="3520440" cy="333756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8074152" y="1828800"/>
            <a:ext cx="50292" cy="333756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84464" y="2029968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743200"/>
            <a:ext cx="30998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 discovery conversation about their current lead workflow and possible automation.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No free audit, guaranteed outcome, or delivery promise.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Qualified lead = a relevant business, a stated workflow problem, and a contact willing to discuss a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Oval 24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Why this campaign should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Hypothesis: specific lead-follow-up messaging will produce a higher enquiry conversion rate than broad automation messaging, without reducing lead quality.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46120"/>
            <a:ext cx="3520440" cy="214884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594360" y="3246120"/>
            <a:ext cx="50292" cy="214884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2" y="3447288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Service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160520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lists lead-management AI agents, CRM automation and software integration.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3246120"/>
            <a:ext cx="3520440" cy="214884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4334256" y="3246120"/>
            <a:ext cx="50292" cy="214884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44568" y="3447288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Message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160520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 recognizable business problem makes the service easier to understand and evaluate.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3246120"/>
            <a:ext cx="3520440" cy="214884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74152" y="3246120"/>
            <a:ext cx="50292" cy="214884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284464" y="3447288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Conversion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4160520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One enquiry form and one CTA guide visitors toward a discovery conversation.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967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This is a testable proposal—not a claim about Cynbit’s existing customers or campaign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t>Video 01 / Alternative campaign creative</a:t>
            </a:r>
          </a:p>
        </p:txBody>
      </p:sp>
      <p:pic>
        <p:nvPicPr>
          <p:cNvPr id="31" name="WhatsApp Video 2026-10-22 at 15.14.57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691640"/>
            <a:ext cx="7132320" cy="401193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t>SANJANA UPRETY / CAMPAIGN VIDEO COLLECTION / ORIGINAL FILES INCLUDED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187451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9DB3"/>
                </a:solidFill>
                <a:latin typeface="Aptos"/>
              </a:defRPr>
            </a:pPr>
            <a:r>
              <a:t>PLAY THE ORIGINAL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27432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7375D"/>
                </a:solidFill>
                <a:latin typeface="Aptos"/>
              </a:defRPr>
            </a:pPr>
            <a:r>
              <a:t>Start Slide Show, then click the video to play.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8862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75D"/>
                </a:solidFill>
                <a:latin typeface="Aptos"/>
              </a:defRPr>
            </a:pPr>
            <a:r>
              <a:t>Original MP4 embedded in this presentation. No internet connection or separate video file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212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8647E"/>
                </a:solidFill>
                <a:latin typeface="Aptos"/>
              </a:defRPr>
            </a:pPr>
            <a:r>
              <a:t>Approximately 10 seconds • audio included</a:t>
            </a:r>
          </a:p>
          <a:p>
            <a:pPr>
              <a:defRPr sz="1500" b="0">
                <a:solidFill>
                  <a:srgbClr val="48647E"/>
                </a:solidFill>
                <a:latin typeface="Aptos"/>
              </a:defRPr>
            </a:pPr>
            <a:r>
              <a:t>Illustrative campaign concept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t>Video 02 / Main campaign creative</a:t>
            </a:r>
          </a:p>
        </p:txBody>
      </p:sp>
      <p:pic>
        <p:nvPicPr>
          <p:cNvPr id="32" name="WhatsApp Video 2026-10-22 at 14.56.4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554480"/>
            <a:ext cx="2520315" cy="4480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t>SANJANA UPRETY / CAMPAIGN VIDEO COLLECTION / ORIGINAL FILES INCLUDED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1874519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9DB3"/>
                </a:solidFill>
                <a:latin typeface="Aptos"/>
              </a:defRPr>
            </a:pPr>
            <a:r>
              <a:t>PLAY THE ORIGINAL VIDEO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74320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7375D"/>
                </a:solidFill>
                <a:latin typeface="Aptos"/>
              </a:defRPr>
            </a:pPr>
            <a:r>
              <a:t>Start Slide Show, then click the video to play.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88620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75D"/>
                </a:solidFill>
                <a:latin typeface="Aptos"/>
              </a:defRPr>
            </a:pPr>
            <a:r>
              <a:t>Original MP4 embedded in this presentation. No internet connection or separate video file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521208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8647E"/>
                </a:solidFill>
                <a:latin typeface="Aptos"/>
              </a:defRPr>
            </a:pPr>
            <a:r>
              <a:t>Approximately 10 seconds • audio included</a:t>
            </a:r>
          </a:p>
          <a:p>
            <a:pPr>
              <a:defRPr sz="1500" b="0">
                <a:solidFill>
                  <a:srgbClr val="48647E"/>
                </a:solidFill>
                <a:latin typeface="Aptos"/>
              </a:defRPr>
            </a:pPr>
            <a:r>
              <a:t>Illustrative campaign concept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t>Video 03 / Alternative campaign creative</a:t>
            </a:r>
          </a:p>
        </p:txBody>
      </p:sp>
      <p:pic>
        <p:nvPicPr>
          <p:cNvPr id="32" name="WhatsApp Video 2026-10-22 at 12.20.25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554480"/>
            <a:ext cx="2520315" cy="4480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t>SANJANA UPRETY / CAMPAIGN VIDEO COLLECTION / ORIGINAL FILES INCLUDED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1874519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9DB3"/>
                </a:solidFill>
                <a:latin typeface="Aptos"/>
              </a:defRPr>
            </a:pPr>
            <a:r>
              <a:t>PLAY THE ORIGINAL VIDEO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74320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7375D"/>
                </a:solidFill>
                <a:latin typeface="Aptos"/>
              </a:defRPr>
            </a:pPr>
            <a:r>
              <a:t>Start Slide Show, then click the video to play.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88620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75D"/>
                </a:solidFill>
                <a:latin typeface="Aptos"/>
              </a:defRPr>
            </a:pPr>
            <a:r>
              <a:t>Original MP4 embedded in this presentation. No internet connection or separate video file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521208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8647E"/>
                </a:solidFill>
                <a:latin typeface="Aptos"/>
              </a:defRPr>
            </a:pPr>
            <a:r>
              <a:t>Approximately 10 seconds • audio included</a:t>
            </a:r>
          </a:p>
          <a:p>
            <a:pPr>
              <a:defRPr sz="1500" b="0">
                <a:solidFill>
                  <a:srgbClr val="48647E"/>
                </a:solidFill>
                <a:latin typeface="Aptos"/>
              </a:defRPr>
            </a:pPr>
            <a:r>
              <a:t>Illustrative campaign concept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Oval 12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Creative 02 / A focused landing-page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07</a:t>
            </a:r>
          </a:p>
        </p:txBody>
      </p:sp>
      <p:pic>
        <p:nvPicPr>
          <p:cNvPr id="8" name="Picture 7" descr="Modern AI CRM Landing Page 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627632"/>
            <a:ext cx="699516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7150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Message match → three service benefits → short enquiry form → one clear CTA. Visual mockup only; not a live 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Oval 19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Acquisition plan / Capture intent, then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5349240" cy="333756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50292" cy="333756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2" y="1938528"/>
            <a:ext cx="49286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Paid: Google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51760"/>
            <a:ext cx="49286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Allocate the proposed ₹10,000 media budget here.</a:t>
            </a:r>
          </a:p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Start with phrase / exact terms around CRM automation services and lead-follow-up automation.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Review search terms; exclude jobs, courses and unrelated free-tool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5422392" cy="333756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50292" cy="333756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82512" y="1938528"/>
            <a:ext cx="50017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Organic: 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651760"/>
            <a:ext cx="5001768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Publish the video with a problem-led caption and a tagged landing-page link.</a:t>
            </a:r>
          </a:p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Propose 2 posts per week: video, workflow explanation and practical follow-up tips.</a:t>
            </a:r>
          </a:p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No paid LinkedIn budget; measure this traffic separately.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76672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Before launch: validate keyword demand and CPC, secure Cynbit approval, build the real page and form, confirm branding, and test tracking. Creative production and sales time are outside the media budget.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Oval 26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Pilot economics / Targets, not achieved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2615184" cy="123444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₹10,000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32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Media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783080"/>
            <a:ext cx="2615184" cy="123444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584448" y="19385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532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Search CTR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783080"/>
            <a:ext cx="2615184" cy="123444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91656" y="19385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₹50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532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Assumed CPC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1783080"/>
            <a:ext cx="2615184" cy="123444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198863" y="19385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2532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Enquiry CVR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31012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5,000 impressions → 200 clicks → 10 enquiries → 4 qualified leads → 2 booked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0507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Illustrative assumptions: 40% of enquiries qualify; 50% of qualified leads book.</a:t>
            </a:r>
          </a:p>
          <a:p>
            <a:pPr>
              <a:spcAft>
                <a:spcPts val="10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The click-to-enquiry calculation assumes each paid click produces a measured landing-page session.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Implied CPL: ₹1,000  •  Cost / qualified lead: ₹2,500  •  Cost / qualified booked call: ₹5,000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595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CAC: ₹10,000 media-only if one customer converts—not a forecast. With zero customers, CAC is not yet measurable. Full CAC adds relevant production and sales costs. Validate acceptable CAC against customer margin.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Oval 21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Experiment / Change the headline, not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5349240" cy="173736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594360" y="1755648"/>
            <a:ext cx="50292" cy="173736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2" y="1956816"/>
            <a:ext cx="49286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 / Problem-led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70048"/>
            <a:ext cx="4928616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“Still managing lead follow-ups manually?”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55648"/>
            <a:ext cx="5422392" cy="173736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172200" y="1755648"/>
            <a:ext cx="50292" cy="173736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82512" y="1956816"/>
            <a:ext cx="50017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 / Solution-led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670048"/>
            <a:ext cx="5001768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“AI-powered lead management for growing businesses.”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30752"/>
            <a:ext cx="5257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SETUP</a:t>
            </a:r>
          </a:p>
          <a:p>
            <a:pPr>
              <a:spcAft>
                <a:spcPts val="1000"/>
              </a:spcAft>
              <a:defRPr sz="18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Random 50/50 visitor allocation; persist the variant. Keep traffic source, offer, form and page design unchanged. Exclude internal and bot traffic.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2"/>
            <a:ext cx="5166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MEASURE</a:t>
            </a:r>
          </a:p>
          <a:p>
            <a:pPr>
              <a:spcAft>
                <a:spcPts val="1000"/>
              </a:spcAft>
              <a:defRPr sz="18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Primary: successful enquiries / eligible sessions. Guardrail: qualified leads / enquiries. Deduplicate submissions and compare like-for-like source traffic.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At 200 visits, this is exploratory. A 5% → 10% lift needs roughly 435 visitors per arm (80% power, 5% two-sided α).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Oval 32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Tracking / Connect marketing to sales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11000232" cy="566928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49808" y="1901952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Ad → visit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901952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Google Ads + GA4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90195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Impressions, clicks, CPC; UTMs and source / 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441448"/>
            <a:ext cx="11000232" cy="566928"/>
          </a:xfrm>
          <a:prstGeom prst="rect">
            <a:avLst/>
          </a:prstGeom>
          <a:solidFill>
            <a:srgbClr val="E9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Visit → enquiry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56032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GTM + GA4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60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generate_lead only after confirmed success; capture variant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099815"/>
            <a:ext cx="11000232" cy="566928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49808" y="3218687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Enquiry → qualified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3218687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CRM / restricted 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218687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Lead ID, fit, challenge, qualification date and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758184"/>
            <a:ext cx="11000232" cy="566928"/>
          </a:xfrm>
          <a:prstGeom prst="rect">
            <a:avLst/>
          </a:prstGeom>
          <a:solidFill>
            <a:srgbClr val="E9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49808" y="3877056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Qualified → booked / attended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3877056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CRM / restricted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87705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Booking and attendance tracked separately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416552"/>
            <a:ext cx="11000232" cy="566928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49808" y="4535424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Attended → 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453542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CRM / sales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53542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Won date, revenue, cost and campaign cohort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3095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Attribution: retain first-touch and latest non-direct UTMs in the CRM; report Search and LinkedIn separately.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Never send names or emails to GA4. Restrict CRM access, follow consent requirements, and test duplicate prevention.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Oval 24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30-day roadmap / Learn before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3520440" cy="246888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594360" y="1755648"/>
            <a:ext cx="50292" cy="246888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2" y="1956816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Days 1–5 / 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70048"/>
            <a:ext cx="309981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Approve offer and brand assets.</a:t>
            </a:r>
          </a:p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Build page; QA events and CRM.</a:t>
            </a:r>
          </a:p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Check demand and CPC.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755648"/>
            <a:ext cx="3520440" cy="246888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4334256" y="1755648"/>
            <a:ext cx="50292" cy="246888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44568" y="1956816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Days 6–20 /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670048"/>
            <a:ext cx="309981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Launch Search and LinkedIn.</a:t>
            </a:r>
          </a:p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Review queries and lead quality.</a:t>
            </a:r>
          </a:p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Log changes; avoid early winners.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1755648"/>
            <a:ext cx="3520440" cy="246888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8074152" y="1755648"/>
            <a:ext cx="50292" cy="246888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84464" y="1956816"/>
            <a:ext cx="3099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Days 21–30 /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670048"/>
            <a:ext cx="309981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Review qualified bookings.</a:t>
            </a:r>
          </a:p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Report test uncertainty.</a:t>
            </a:r>
          </a:p>
          <a:p>
            <a:pPr>
              <a:spcAft>
                <a:spcPts val="600"/>
              </a:spcAft>
              <a:defRPr sz="16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Follow sales outcomes to day 90.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2628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Decision rules: pause on tracking failure or irrelevant traffic. Investigate any query / ad group spending ₹2,000 with no enquiries. Consider a 20% budget increase only after at least 3 qualified bookings at ≤₹5,000 each, sales-fit confirmation and approval.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0468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The pilot targets only 2 bookings, so it may justify another controlled test—not scaling. No A/B winner without adequate sample size. Track late customer conversions against the original acquisition cohort.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Oval 17"/>
          <p:cNvSpPr/>
          <p:nvPr/>
        </p:nvSpPr>
        <p:spPr>
          <a:xfrm>
            <a:off x="11567160" y="-1325880"/>
            <a:ext cx="2560320" cy="1938528"/>
          </a:xfrm>
          <a:prstGeom prst="ellipse">
            <a:avLst/>
          </a:prstGeom>
          <a:solidFill>
            <a:srgbClr val="087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99648" y="-1371600"/>
            <a:ext cx="3108960" cy="2148840"/>
          </a:xfrm>
          <a:prstGeom prst="ellipse">
            <a:avLst/>
          </a:prstGeom>
          <a:solidFill>
            <a:srgbClr val="D9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-2103120" y="6446520"/>
            <a:ext cx="4389120" cy="1920240"/>
          </a:xfrm>
          <a:prstGeom prst="ellipse">
            <a:avLst/>
          </a:prstGeom>
          <a:solidFill>
            <a:srgbClr val="B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1828800" y="6172200"/>
            <a:ext cx="4480560" cy="2194560"/>
          </a:xfrm>
          <a:prstGeom prst="ellipse">
            <a:avLst/>
          </a:prstGeom>
          <a:solidFill>
            <a:srgbClr val="D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38912" y="384048"/>
            <a:ext cx="64008" cy="228600"/>
          </a:xfrm>
          <a:prstGeom prst="rect">
            <a:avLst/>
          </a:prstGeom>
          <a:solidFill>
            <a:srgbClr val="16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TECHNOLOGIES  /  AI &amp;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Sources &amp; scope / Transparent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00232" cy="10972"/>
          </a:xfrm>
          <a:prstGeom prst="rect">
            <a:avLst/>
          </a:prstGeom>
          <a:solidFill>
            <a:srgbClr val="D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SANJANA UPRETY  /  GROWTH MARKETING ASSESSMENT  /  PROPOSED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830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62C60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Official service descriptions—not independently verified performance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services: AI agents, CRM automation and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  <a:hlinkClick r:id="rId2"/>
              </a:rPr>
              <a:t>https://www.cynbit.in/services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375D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Cynbit contact: discovery conversation and enquiries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  <a:hlinkClick r:id="rId3"/>
              </a:rPr>
              <a:t>https://www.cynbit.in/contact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106984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Creative assets supplied by Sanjana Uprety; AI-assisted creative workflow. Video scenes and dashboard imagery are illustrative. Branding shown in supplied assets requires confirmation before public use.</a:t>
            </a:r>
          </a:p>
          <a:p>
            <a:pPr>
              <a:spcAft>
                <a:spcPts val="1000"/>
              </a:spcAft>
              <a:defRPr sz="1800" b="0">
                <a:solidFill>
                  <a:srgbClr val="48647E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All budgets, rates and funnel outcomes are proposed assumptions. No ads were launched, no leads collected, and no results fabricated.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88152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79DB3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Submission scope: 2 creative concepts + campaign plan + growth rationale and measurement framework.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